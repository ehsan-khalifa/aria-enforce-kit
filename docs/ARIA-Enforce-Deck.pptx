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spPr>
            <a:solidFill>
              <a:srgbClr val="12203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With Helmet</c:v>
                  </c:pt>
                  <c:pt idx="1">
                    <c:v>Without Helmet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0.92</c:v>
                </c:pt>
                <c:pt idx="1">
                  <c:v>0.87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6A60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With Helmet</c:v>
                  </c:pt>
                  <c:pt idx="1">
                    <c:v>Without Helmet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0.89</c:v>
                </c:pt>
                <c:pt idx="1">
                  <c:v>0.8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ARIA-ENFORCE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41248" y="28803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Traffic Violation Detection &amp; Automated e-Challan for Indian Roads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" y="3794760"/>
            <a:ext cx="6766560" cy="45720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37947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- Automated Photo Identification of Traffic Violations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-  Classify  -  Read plate  -  Issue e-challan  -  Predict congestion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review can't keep up with the cameras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73152" cy="310896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240280"/>
            <a:ext cx="310896" cy="310896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Millions of frames/day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generate far more images than humans can ever inspect.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920240"/>
            <a:ext cx="73152" cy="310896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2240280"/>
            <a:ext cx="310896" cy="310896"/>
          </a:xfrm>
          <a:prstGeom prst="ellipse">
            <a:avLst/>
          </a:prstGeom>
          <a:solidFill>
            <a:srgbClr val="F6A609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&amp; inconsistent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4290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ticketing is labour-intensive and varies reviewer to reviewer.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920240"/>
            <a:ext cx="73152" cy="3108960"/>
          </a:xfrm>
          <a:prstGeom prst="rect">
            <a:avLst/>
          </a:prstGeom>
          <a:solidFill>
            <a:srgbClr val="1E8A7B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240280"/>
            <a:ext cx="310896" cy="310896"/>
          </a:xfrm>
          <a:prstGeom prst="ellipse">
            <a:avLst/>
          </a:prstGeom>
          <a:solidFill>
            <a:srgbClr val="1E8A7B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Indian roads are hard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34290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Helmetless &amp; triple riders, mixed traffic, rain &amp; low light defeat generic tools.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needs an automated, accurate, Indian-context system that produces court-ready evidence.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8A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photo in - enforcement out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traffic image; ARIA-Enforce returns annotated evidence, the violation type with confidence, the anonymized plate, a severity score and a ready e-challan - in seconds, no manual review.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23160"/>
            <a:ext cx="73152" cy="155448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243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7+ violation types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13639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seatbelt, triple-riding, wrong-side, stop-line, red-light, illegal parking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423160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423160"/>
            <a:ext cx="73152" cy="155448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6243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Indian-trained models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313639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local vehicle classes + a per-rider helmet detector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206240"/>
            <a:ext cx="73152" cy="155448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07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Weather-robust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49194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Low-light, rain &amp; fog enhancement before detection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4206240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4206240"/>
            <a:ext cx="73152" cy="155448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407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-&gt; Enforce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7960" y="49194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e-challan with MV-Act section, fine &amp; evidence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required violation - and more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73152" cy="109728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Helmet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26151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+ confidence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2011680"/>
            <a:ext cx="73152" cy="109728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3685032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Seatbelt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685032" y="26151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+ confidence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2011680"/>
            <a:ext cx="73152" cy="109728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Triple riding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73952" y="26151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+ confidence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06840" y="201168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06840" y="2011680"/>
            <a:ext cx="73152" cy="109728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8" name="Text 16"/>
          <p:cNvSpPr/>
          <p:nvPr/>
        </p:nvSpPr>
        <p:spPr>
          <a:xfrm>
            <a:off x="9262872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Wrong-side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262872" y="26151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+ confidence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38328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383280"/>
            <a:ext cx="73152" cy="109728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35478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Stop-line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96112" y="39867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+ confidence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29000" y="338328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3383280"/>
            <a:ext cx="73152" cy="109728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3685032" y="35478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Red-light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685032" y="39867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+ confidence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338328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3383280"/>
            <a:ext cx="73152" cy="109728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30" name="Text 28"/>
          <p:cNvSpPr/>
          <p:nvPr/>
        </p:nvSpPr>
        <p:spPr>
          <a:xfrm>
            <a:off x="6473952" y="35478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 parking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473952" y="39867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+ confidence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06840" y="338328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06840" y="3383280"/>
            <a:ext cx="73152" cy="1097280"/>
          </a:xfrm>
          <a:prstGeom prst="rect">
            <a:avLst/>
          </a:prstGeom>
          <a:solidFill>
            <a:srgbClr val="1E8A7B"/>
          </a:solidFill>
          <a:ln/>
        </p:spPr>
      </p:sp>
      <p:sp>
        <p:nvSpPr>
          <p:cNvPr id="34" name="Text 32"/>
          <p:cNvSpPr/>
          <p:nvPr/>
        </p:nvSpPr>
        <p:spPr>
          <a:xfrm>
            <a:off x="9262872" y="35478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Pedestrian crossing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9262872" y="39867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+ confidence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detection carries a confidence score and a danger-weighted severity (LOW to CRITICAL).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8A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single end-to-end pipeline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2203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46888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03120" y="2468880"/>
            <a:ext cx="210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246888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F6A609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246888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(weather)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49040" y="2468880"/>
            <a:ext cx="210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931920" y="246888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F6A609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0" y="246888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(YOLO)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394960" y="2468880"/>
            <a:ext cx="210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577840" y="246888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F6A609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246888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Helmet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2468880"/>
            <a:ext cx="210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23760" y="246888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F6A609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246888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0" y="2468880"/>
            <a:ext cx="210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869680" y="246888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F6A609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69680" y="246888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OCR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severity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332720" y="2468880"/>
            <a:ext cx="210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515600" y="246888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8A7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515600" y="246888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e-Challan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evidence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production ARIA vision stack - reused, not rebuilt - exposed as an image-first service that runs with one command (no Docker, no database server).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5303520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E7ECF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303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852928" y="5303520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E7ECF3"/>
          </a:solidFill>
          <a:ln/>
        </p:spPr>
      </p:sp>
      <p:sp>
        <p:nvSpPr>
          <p:cNvPr id="28" name="Text 26"/>
          <p:cNvSpPr/>
          <p:nvPr/>
        </p:nvSpPr>
        <p:spPr>
          <a:xfrm>
            <a:off x="2852928" y="5303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65776" y="5303520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E7ECF3"/>
          </a:solidFill>
          <a:ln/>
        </p:spPr>
      </p:sp>
      <p:sp>
        <p:nvSpPr>
          <p:cNvPr id="30" name="Text 28"/>
          <p:cNvSpPr/>
          <p:nvPr/>
        </p:nvSpPr>
        <p:spPr>
          <a:xfrm>
            <a:off x="5065776" y="5303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/ CLAHE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278624" y="5303520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E7ECF3"/>
          </a:solidFill>
          <a:ln/>
        </p:spPr>
      </p:sp>
      <p:sp>
        <p:nvSpPr>
          <p:cNvPr id="32" name="Text 30"/>
          <p:cNvSpPr/>
          <p:nvPr/>
        </p:nvSpPr>
        <p:spPr>
          <a:xfrm>
            <a:off x="7278624" y="5303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evidence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491472" y="5303520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E7ECF3"/>
          </a:solidFill>
          <a:ln/>
        </p:spPr>
      </p:sp>
      <p:sp>
        <p:nvSpPr>
          <p:cNvPr id="34" name="Text 32"/>
          <p:cNvSpPr/>
          <p:nvPr/>
        </p:nvSpPr>
        <p:spPr>
          <a:xfrm>
            <a:off x="9491472" y="5303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UI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6A6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THE 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doesn't just detect - it enforces &amp; predicts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73152" cy="329184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e-Challan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 no. + timestamp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MV-Act section + fine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plate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evidence image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Repeat-offender escalation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3383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828800"/>
            <a:ext cx="73152" cy="329184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Severity Ranking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Danger-weighted so enforcement targets the most dangerous offences first.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0" y="3657600"/>
            <a:ext cx="1097280" cy="274320"/>
          </a:xfrm>
          <a:prstGeom prst="rect">
            <a:avLst/>
          </a:prstGeom>
          <a:solidFill>
            <a:srgbClr val="1E8A7B"/>
          </a:solidFill>
          <a:ln/>
        </p:spPr>
      </p:sp>
      <p:sp>
        <p:nvSpPr>
          <p:cNvPr id="13" name="Text 11"/>
          <p:cNvSpPr/>
          <p:nvPr/>
        </p:nvSpPr>
        <p:spPr>
          <a:xfrm>
            <a:off x="5989320" y="3630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4023360"/>
            <a:ext cx="1600200" cy="27432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39959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4389120"/>
            <a:ext cx="2103120" cy="274320"/>
          </a:xfrm>
          <a:prstGeom prst="rect">
            <a:avLst/>
          </a:prstGeom>
          <a:solidFill>
            <a:srgbClr val="E76F2A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43616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4754880"/>
            <a:ext cx="2606040" cy="2743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47274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828800"/>
            <a:ext cx="3474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0" y="1828800"/>
            <a:ext cx="73152" cy="3291840"/>
          </a:xfrm>
          <a:prstGeom prst="rect">
            <a:avLst/>
          </a:prstGeom>
          <a:solidFill>
            <a:srgbClr val="1E8A7B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Congestion Forecast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21040" y="2606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layer over 8,000+ historical events flags hotspots before they peak - enforcement to prediction.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21040" y="4434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A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8,173 events analysed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8A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Real, multi-rider scene performance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583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828800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80960" y="1828800"/>
            <a:ext cx="73152" cy="86868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1883664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0.89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9372600" y="1883664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mAP50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0" y="2834640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80960" y="2834640"/>
            <a:ext cx="73152" cy="86868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1" name="Text 8"/>
          <p:cNvSpPr/>
          <p:nvPr/>
        </p:nvSpPr>
        <p:spPr>
          <a:xfrm>
            <a:off x="7909560" y="2889504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0.85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9372600" y="2889504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(P 0.85 / R 0.84)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80960" y="3840480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80960" y="3840480"/>
            <a:ext cx="73152" cy="86868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5" name="Text 12"/>
          <p:cNvSpPr/>
          <p:nvPr/>
        </p:nvSpPr>
        <p:spPr>
          <a:xfrm>
            <a:off x="7909560" y="3895344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2.0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9372600" y="3895344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boxed / image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680960" y="4846320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680960" y="4846320"/>
            <a:ext cx="73152" cy="86868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9" name="Text 16"/>
          <p:cNvSpPr/>
          <p:nvPr/>
        </p:nvSpPr>
        <p:spPr>
          <a:xfrm>
            <a:off x="7909560" y="4901184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5.3 MB</a:t>
            </a:r>
            <a:endParaRPr lang="en-US" sz="2500" dirty="0"/>
          </a:p>
        </p:txBody>
      </p:sp>
      <p:sp>
        <p:nvSpPr>
          <p:cNvPr id="20" name="Text 17"/>
          <p:cNvSpPr/>
          <p:nvPr/>
        </p:nvSpPr>
        <p:spPr>
          <a:xfrm>
            <a:off x="9372600" y="4901184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model - real-time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model (YOLO26n) trained on a per-rider DETECTION dataset - judges each rider independently in real scenes. Vehicle detector adds 11 Indian classes (mAP50 0.65).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6A6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BIGGER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agent in a full adaptive-traffic platform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2651760"/>
          </a:xfrm>
          <a:prstGeom prst="rect">
            <a:avLst/>
          </a:prstGeom>
          <a:solidFill>
            <a:srgbClr val="1B2E4E"/>
          </a:solidFill>
          <a:ln w="19050">
            <a:solidFill>
              <a:srgbClr val="F6A60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2606040" cy="109728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6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- detection, violations, evidence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4297680"/>
            <a:ext cx="2057400" cy="36576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97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SUBMISSION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2103120"/>
            <a:ext cx="2606040" cy="2651760"/>
          </a:xfrm>
          <a:prstGeom prst="rect">
            <a:avLst/>
          </a:prstGeom>
          <a:solidFill>
            <a:srgbClr val="1B2E4E"/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2103120"/>
            <a:ext cx="2606040" cy="109728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377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HERMES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0" y="3017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backend, database &amp; API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606040" cy="2651760"/>
          </a:xfrm>
          <a:prstGeom prst="rect">
            <a:avLst/>
          </a:prstGeom>
          <a:solidFill>
            <a:srgbClr val="1B2E4E"/>
          </a:solidFill>
          <a:ln w="19050">
            <a:solidFill>
              <a:srgbClr val="1E8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103120"/>
            <a:ext cx="2606040" cy="109728"/>
          </a:xfrm>
          <a:prstGeom prst="rect">
            <a:avLst/>
          </a:prstGeom>
          <a:solidFill>
            <a:srgbClr val="1E8A7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377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A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NEXUS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3017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adaptive signal-timing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006840" y="2103120"/>
            <a:ext cx="2606040" cy="2651760"/>
          </a:xfrm>
          <a:prstGeom prst="rect">
            <a:avLst/>
          </a:prstGeom>
          <a:solidFill>
            <a:srgbClr val="1B2E4E"/>
          </a:solidFill>
          <a:ln w="19050">
            <a:solidFill>
              <a:srgbClr val="9B7E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6840" y="2103120"/>
            <a:ext cx="2606040" cy="109728"/>
          </a:xfrm>
          <a:prstGeom prst="rect">
            <a:avLst/>
          </a:prstGeom>
          <a:solidFill>
            <a:srgbClr val="9B7EDE"/>
          </a:solidFill>
          <a:ln/>
        </p:spPr>
      </p:sp>
      <p:sp>
        <p:nvSpPr>
          <p:cNvPr id="20" name="Text 18"/>
          <p:cNvSpPr/>
          <p:nvPr/>
        </p:nvSpPr>
        <p:spPr>
          <a:xfrm>
            <a:off x="9006840" y="2377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E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ATLAS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3017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hardware controller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120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backend that flags a red-light runner can re-time the signal - enforcement and flow optimisation in one system.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8A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Runs in one command (or one double-click)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400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one-time setup (Windows): double-click setup.bat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launch: double-click run_demo.bat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from a terminal: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aria_enforce.app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0" y="1828800"/>
            <a:ext cx="4206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0" y="1828800"/>
            <a:ext cx="73152" cy="329184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reviewers get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0" y="26517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Upload-an-image web demo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evidence + e-challans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Congestion-alert panel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 - no DB server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Safer roads, automatically.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34747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ARIA-Enforce - from a single photo to a court-ready challan, built for Indian roads and ready to scale.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- Classify - Enforce - Predict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ARIA-Enforce</dc:title>
  <dc:subject>PptxGenJS Presentation</dc:subject>
  <dc:creator>Team ARIA-Enforce</dc:creator>
  <cp:lastModifiedBy>Team ARIA-Enforce</cp:lastModifiedBy>
  <cp:revision>1</cp:revision>
  <dcterms:created xsi:type="dcterms:W3CDTF">2026-06-23T16:23:56Z</dcterms:created>
  <dcterms:modified xsi:type="dcterms:W3CDTF">2026-06-23T16:23:56Z</dcterms:modified>
</cp:coreProperties>
</file>